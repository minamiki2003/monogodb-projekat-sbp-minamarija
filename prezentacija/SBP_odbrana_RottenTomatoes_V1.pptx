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6"/>
  </p:notesMasterIdLst>
  <p:sldIdLst>
    <p:sldId id="256" r:id="rId2"/>
    <p:sldId id="257" r:id="rId3"/>
    <p:sldId id="270" r:id="rId4"/>
    <p:sldId id="271" r:id="rId5"/>
    <p:sldId id="258" r:id="rId6"/>
    <p:sldId id="259" r:id="rId7"/>
    <p:sldId id="260" r:id="rId8"/>
    <p:sldId id="261" r:id="rId9"/>
    <p:sldId id="266" r:id="rId10"/>
    <p:sldId id="267" r:id="rId11"/>
    <p:sldId id="262" r:id="rId12"/>
    <p:sldId id="268" r:id="rId13"/>
    <p:sldId id="269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E0013-24BD-4571-A7ED-A9233CC3FA7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B1D5F-12EF-4AAB-BCA4-871CCFACD1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Analiza filmova i kriticarskih recenzija koriscenjem MongoDB baze podataka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45428"/>
            <a:ext cx="6400800" cy="1393371"/>
          </a:xfrm>
        </p:spPr>
        <p:txBody>
          <a:bodyPr>
            <a:normAutofit/>
          </a:bodyPr>
          <a:lstStyle/>
          <a:p>
            <a:r>
              <a:rPr lang="sr-Latn-RS" sz="2000" dirty="0" smtClean="0"/>
              <a:t>Mina Vojnovic IN16/2022</a:t>
            </a:r>
          </a:p>
          <a:p>
            <a:r>
              <a:rPr lang="sr-Latn-RS" sz="2000" dirty="0" smtClean="0"/>
              <a:t>Marija Olic IN45/2022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Analiza kriticarskih recenzija filmova i serija</a:t>
            </a:r>
          </a:p>
          <a:p>
            <a:r>
              <a:rPr dirty="0"/>
              <a:t>Koriscenje MongoDB dokumentno-orijentisane baze</a:t>
            </a:r>
          </a:p>
          <a:p>
            <a:r>
              <a:rPr dirty="0"/>
              <a:t>Dataseti: Rotten Tomatoes Movies i Reviews (Kaggle)</a:t>
            </a:r>
          </a:p>
          <a:p>
            <a:r>
              <a:rPr dirty="0"/>
              <a:t>Fokus na agregacije, spajanje kolekcija i analizu kriticara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Tema</a:t>
            </a:r>
            <a:r>
              <a:rPr dirty="0"/>
              <a:t xml:space="preserve"> </a:t>
            </a:r>
            <a:r>
              <a:rPr dirty="0" err="1"/>
              <a:t>projekta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Platforma</a:t>
            </a: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: 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Kaggle.com</a:t>
            </a:r>
            <a:endParaRPr lang="en-US" sz="2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8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Autor</a:t>
            </a: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: 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andrezaza </a:t>
            </a:r>
            <a:r>
              <a:rPr lang="en-US" sz="28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endParaRPr lang="en-US" sz="2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Format: 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CSV </a:t>
            </a:r>
            <a:r>
              <a:rPr lang="en-US" sz="28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fajlovi (2 dataseta)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 </a:t>
            </a:r>
            <a:r>
              <a:rPr lang="en-US" sz="28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 </a:t>
            </a:r>
            <a:r>
              <a:rPr lang="en-US" sz="28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endParaRPr lang="en-US" sz="2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8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Ukupna velicina</a:t>
            </a: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 </a:t>
            </a:r>
            <a:r>
              <a:rPr lang="en-US" sz="28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: 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~500 MB (</a:t>
            </a:r>
            <a:r>
              <a:rPr lang="en-US" sz="28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movies.csv ~130MB,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 </a:t>
            </a:r>
            <a:r>
              <a:rPr lang="en-US" sz="28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reviews.csv ~370MB)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endParaRPr lang="en-US" sz="2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8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Odabrana kategorija</a:t>
            </a: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 </a:t>
            </a:r>
            <a:r>
              <a:rPr lang="en-US" sz="28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: 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Rotten Tomatoes Movies</a:t>
            </a:r>
            <a:endParaRPr lang="en-US" sz="2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8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Velicina kategorije</a:t>
            </a: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 </a:t>
            </a:r>
            <a:r>
              <a:rPr lang="en-US" sz="28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r>
              <a:rPr lang="en-US" sz="28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: 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Preporuka: </a:t>
            </a:r>
            <a:r>
              <a:rPr lang="en-US" sz="28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spajanje oba fajla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 </a:t>
            </a:r>
            <a:r>
              <a:rPr lang="en-US" sz="2800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 xml:space="preserve">  </a:t>
            </a:r>
            <a:r>
              <a:rPr lang="en-US" sz="2800" dirty="0" smtClean="0">
                <a:solidFill>
                  <a:srgbClr val="1E293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endParaRPr lang="sr-Latn-RS" sz="2800" dirty="0" smtClean="0">
              <a:solidFill>
                <a:srgbClr val="1E293B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2800" dirty="0" smtClean="0"/>
          </a:p>
          <a:p>
            <a:endParaRPr lang="en-US" dirty="0"/>
          </a:p>
        </p:txBody>
      </p:sp>
      <p:sp>
        <p:nvSpPr>
          <p:cNvPr id="3" 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Opis skupa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1.4 miliona kriticarskih recenzija</a:t>
            </a:r>
          </a:p>
          <a:p>
            <a:r>
              <a:rPr lang="sr-Latn-RS" dirty="0" smtClean="0"/>
              <a:t>movies.csv: 22 kolone | reviews.csv: 8 kolona</a:t>
            </a:r>
          </a:p>
          <a:p>
            <a:r>
              <a:rPr lang="sr-Latn-RS" dirty="0" smtClean="0"/>
              <a:t>Filmovi iz perioda 1910–2023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Ključno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movies.csv ima veliki broj NULL vrednosti u kolonama za finansije i glumce</a:t>
            </a:r>
          </a:p>
          <a:p>
            <a:r>
              <a:rPr dirty="0"/>
              <a:t>Ideja: spojiti oba fajla po ratingKey / movie_title</a:t>
            </a:r>
          </a:p>
          <a:p>
            <a:r>
              <a:rPr dirty="0"/>
              <a:t>Spajanje donosi zanr, godinu i studio uz svaku recenziju</a:t>
            </a:r>
          </a:p>
          <a:p>
            <a:r>
              <a:rPr dirty="0"/>
              <a:t>Python: uklanjanje redova sa NULL u kljucnim kolonama pre importa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Analiza skupa podataka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Veliki broj recenzija i filmova razlicitih zanrova</a:t>
            </a:r>
          </a:p>
          <a:p>
            <a:r>
              <a:rPr dirty="0"/>
              <a:t>Kompleksna obeležja: tomatoMeter, audienceScore, review_score, review_content</a:t>
            </a:r>
          </a:p>
          <a:p>
            <a:r>
              <a:rPr dirty="0"/>
              <a:t>Mogucnost složenih agregacija i JOIN-a kolekcija</a:t>
            </a:r>
          </a:p>
          <a:p>
            <a:r>
              <a:rPr dirty="0"/>
              <a:t>Dovoljno podataka za analizu trendova, žanrova i kriticarskog ponasanja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Zasto Rotten Tomatoes dataset?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Ucitavanje movies.csv i rotten_tomatoes_critic_reviews.csv u Python</a:t>
            </a:r>
          </a:p>
          <a:p>
            <a:r>
              <a:rPr dirty="0"/>
              <a:t>2. Uklanjanje redova sa NULL u kljucnim kolonama (genre, rating, review_score)</a:t>
            </a:r>
          </a:p>
          <a:p>
            <a:r>
              <a:rPr dirty="0"/>
              <a:t>3. Spajanje fajlova po ratingKey / movie_title</a:t>
            </a:r>
          </a:p>
          <a:p>
            <a:r>
              <a:rPr dirty="0"/>
              <a:t>4. Smanjenje skupa na ~150-300MB radi lakeg pokretanja</a:t>
            </a:r>
          </a:p>
          <a:p>
            <a:r>
              <a:rPr dirty="0"/>
              <a:t>5. Import spojenih podataka u MongoDB kolekciju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Predlog obrade podataka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smtClean="0">
                <a:solidFill>
                  <a:schemeClr val="bg2">
                    <a:lumMod val="50000"/>
                  </a:schemeClr>
                </a:solidFill>
              </a:rPr>
              <a:t>ratingKey</a:t>
            </a:r>
            <a:r>
              <a:rPr dirty="0" smtClean="0"/>
              <a:t xml:space="preserve"> </a:t>
            </a:r>
            <a:r>
              <a:rPr lang="en-US" dirty="0" smtClean="0"/>
              <a:t>–</a:t>
            </a:r>
            <a:r>
              <a:rPr dirty="0" smtClean="0"/>
              <a:t xml:space="preserve"> </a:t>
            </a:r>
            <a:r>
              <a:rPr dirty="0" err="1" smtClean="0"/>
              <a:t>jedinstveni kljuc filma (JOIN kljuc)</a:t>
            </a:r>
            <a:endParaRPr dirty="0"/>
          </a:p>
          <a:p>
            <a:r>
              <a:rPr dirty="0" err="1" smtClean="0">
                <a:solidFill>
                  <a:schemeClr val="bg2">
                    <a:lumMod val="50000"/>
                  </a:schemeClr>
                </a:solidFill>
              </a:rPr>
              <a:t>movie_title</a:t>
            </a:r>
            <a:r>
              <a:rPr dirty="0" smtClean="0"/>
              <a:t xml:space="preserve"> </a:t>
            </a:r>
            <a:r>
              <a:rPr lang="en-US" dirty="0" smtClean="0"/>
              <a:t>–</a:t>
            </a:r>
            <a:r>
              <a:rPr dirty="0" smtClean="0"/>
              <a:t xml:space="preserve"> </a:t>
            </a:r>
            <a:r>
              <a:rPr dirty="0"/>
              <a:t>naziv filma</a:t>
            </a:r>
            <a:r>
              <a:rPr dirty="0" err="1" smtClean="0"/>
              <a:t/>
            </a:r>
            <a:endParaRPr lang="sr-Latn-RS" dirty="0" smtClean="0"/>
          </a:p>
          <a:p>
            <a:r>
              <a:rPr lang="sr-Latn-RS" dirty="0" smtClean="0">
                <a:solidFill>
                  <a:schemeClr val="bg2">
                    <a:lumMod val="50000"/>
                  </a:schemeClr>
                </a:solidFill>
              </a:rPr>
              <a:t>movie_info</a:t>
            </a:r>
            <a:r>
              <a:rPr lang="sr-Latn-RS" dirty="0" smtClean="0"/>
              <a:t xml:space="preserve"> – opis radnje (dugi tekst)</a:t>
            </a:r>
            <a:endParaRPr dirty="0"/>
          </a:p>
          <a:p>
            <a:r>
              <a:rPr dirty="0" err="1" smtClean="0">
                <a:solidFill>
                  <a:schemeClr val="bg2">
                    <a:lumMod val="50000"/>
                  </a:schemeClr>
                </a:solidFill>
              </a:rPr>
              <a:t>critics_consensus</a:t>
            </a:r>
            <a:r>
              <a:rPr dirty="0" smtClean="0">
                <a:solidFill>
                  <a:schemeClr val="accent5">
                    <a:lumMod val="75000"/>
                  </a:schemeClr>
                </a:solidFill>
              </a:rPr>
              <a:t xml:space="preserve"> </a:t>
            </a:r>
            <a:r>
              <a:rPr dirty="0"/>
              <a:t>– kriticarski konsenzus</a:t>
            </a:r>
            <a:r>
              <a:rPr dirty="0" err="1" smtClean="0"/>
              <a:t/>
            </a:r>
            <a:endParaRPr lang="sr-Latn-RS" dirty="0" smtClean="0"/>
          </a:p>
          <a:p>
            <a:r>
              <a:rPr lang="sr-Latn-RS" dirty="0" smtClean="0">
                <a:solidFill>
                  <a:schemeClr val="accent3"/>
                </a:solidFill>
              </a:rPr>
              <a:t>rating</a:t>
            </a:r>
            <a:r>
              <a:rPr lang="sr-Latn-RS" dirty="0" smtClean="0">
                <a:solidFill>
                  <a:schemeClr val="accent3"/>
                </a:solidFill>
              </a:rPr>
              <a:t/>
            </a:r>
            <a:r>
              <a:rPr lang="sr-Latn-RS" dirty="0" smtClean="0"/>
              <a:t xml:space="preserve"> – uzrasna kategorija (G, PG, R...)</a:t>
            </a:r>
            <a:endParaRPr dirty="0"/>
          </a:p>
          <a:p>
            <a:r>
              <a:rPr dirty="0" err="1" smtClean="0">
                <a:solidFill>
                  <a:schemeClr val="accent3"/>
                </a:solidFill>
              </a:rPr>
              <a:t>genre</a:t>
            </a:r>
            <a:r>
              <a:rPr dirty="0" smtClean="0"/>
              <a:t xml:space="preserve"> </a:t>
            </a:r>
            <a:r>
              <a:rPr dirty="0"/>
              <a:t xml:space="preserve">– </a:t>
            </a:r>
            <a:r>
              <a:rPr dirty="0" err="1"/>
              <a:t>zanr(ovi) filma</a:t>
            </a:r>
            <a:r>
              <a:rPr dirty="0"/>
              <a:t xml:space="preserve"> </a:t>
            </a:r>
            <a:r>
              <a:rPr dirty="0" err="1" smtClean="0"/>
              <a:t/>
            </a:r>
            <a:endParaRPr lang="sr-Latn-RS" dirty="0" smtClean="0"/>
          </a:p>
          <a:p>
            <a:r>
              <a:rPr lang="sr-Latn-RS" dirty="0" smtClean="0">
                <a:solidFill>
                  <a:schemeClr val="accent3"/>
                </a:solidFill>
              </a:rPr>
              <a:t>directors</a:t>
            </a:r>
            <a:r>
              <a:rPr lang="sr-Latn-RS" dirty="0" smtClean="0">
                <a:solidFill>
                  <a:schemeClr val="accent3"/>
                </a:solidFill>
              </a:rPr>
              <a:t/>
            </a:r>
            <a:r>
              <a:rPr lang="sr-Latn-RS" dirty="0" smtClean="0"/>
              <a:t xml:space="preserve"> – reditelji</a:t>
            </a:r>
            <a:endParaRPr dirty="0"/>
          </a:p>
          <a:p>
            <a:r>
              <a:rPr dirty="0" err="1" smtClean="0"/>
              <a:t>authors</a:t>
            </a:r>
            <a:r>
              <a:rPr dirty="0" smtClean="0"/>
              <a:t xml:space="preserve"> </a:t>
            </a:r>
            <a:r>
              <a:rPr dirty="0"/>
              <a:t xml:space="preserve">– </a:t>
            </a:r>
            <a:r>
              <a:rPr dirty="0" err="1"/>
              <a:t>scenaristi</a:t>
            </a:r>
            <a:r>
              <a:rPr dirty="0"/>
              <a:t xml:space="preserve"> </a:t>
            </a:r>
            <a:r>
              <a:rPr dirty="0" err="1"/>
              <a:t/>
            </a:r>
            <a:endParaRPr dirty="0"/>
          </a:p>
          <a:p>
            <a:r>
              <a:rPr dirty="0" err="1" smtClean="0"/>
              <a:t>actors</a:t>
            </a:r>
            <a:r>
              <a:rPr dirty="0" smtClean="0"/>
              <a:t xml:space="preserve"> </a:t>
            </a:r>
            <a:r>
              <a:rPr dirty="0"/>
              <a:t xml:space="preserve">– </a:t>
            </a:r>
            <a:r>
              <a:rPr dirty="0" err="1"/>
              <a:t>glavne zvezde</a:t>
            </a:r>
            <a:r>
              <a:rPr dirty="0"/>
              <a:t xml:space="preserve"> </a:t>
            </a:r>
            <a:r>
              <a:rPr dirty="0" err="1"/>
              <a:t/>
            </a:r>
            <a:r>
              <a:rPr dirty="0"/>
              <a:t xml:space="preserve"> </a:t>
            </a:r>
            <a:r>
              <a:rPr dirty="0" err="1"/>
              <a:t/>
            </a:r>
            <a:endParaRPr dirty="0"/>
          </a:p>
          <a:p>
            <a:r>
              <a:rPr dirty="0" err="1" smtClean="0"/>
              <a:t>originalLanguage</a:t>
            </a:r>
            <a:r>
              <a:rPr dirty="0" smtClean="0"/>
              <a:t xml:space="preserve"> </a:t>
            </a:r>
            <a:r>
              <a:rPr dirty="0"/>
              <a:t xml:space="preserve">– </a:t>
            </a:r>
            <a:r>
              <a:rPr dirty="0" err="1"/>
              <a:t>jezik originala</a:t>
            </a:r>
            <a:r>
              <a:rPr dirty="0"/>
              <a:t xml:space="preserve"> </a:t>
            </a:r>
            <a:r>
              <a:rPr dirty="0" err="1"/>
              <a:t/>
            </a:r>
            <a:r>
              <a:rPr dirty="0"/>
              <a:t/>
            </a:r>
            <a:r>
              <a:rPr dirty="0" err="1"/>
              <a:t/>
            </a:r>
            <a:r>
              <a:rPr dirty="0"/>
              <a:t xml:space="preserve"> </a:t>
            </a:r>
            <a:r>
              <a:rPr dirty="0" err="1"/>
              <a:t/>
            </a:r>
            <a:endParaRPr dirty="0"/>
          </a:p>
          <a:p>
            <a:r>
              <a:rPr dirty="0" err="1" smtClean="0"/>
              <a:t>tomatoMeter</a:t>
            </a:r>
            <a:r>
              <a:rPr dirty="0" smtClean="0"/>
              <a:t xml:space="preserve"> </a:t>
            </a:r>
            <a:r>
              <a:rPr dirty="0"/>
              <a:t xml:space="preserve">– </a:t>
            </a:r>
            <a:r>
              <a:rPr dirty="0" err="1"/>
              <a:t>kriticarska ocena (0-100)</a:t>
            </a:r>
            <a:r>
              <a:rPr dirty="0"/>
              <a:t xml:space="preserve"> </a:t>
            </a:r>
            <a:r>
              <a:rPr dirty="0" err="1"/>
              <a:t/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Semantika kolona – movies.csv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ratingKey – kljuc za spajanje sa movies.csv</a:t>
            </a:r>
          </a:p>
          <a:p>
            <a:r>
              <a:rPr lang="sr-Latn-RS" dirty="0" smtClean="0"/>
              <a:t>critic_name</a:t>
            </a:r>
            <a:r>
              <a:rPr lang="sr-Latn-RS" dirty="0" smtClean="0"/>
              <a:t xml:space="preserve"> – ime kriticara</a:t>
            </a:r>
          </a:p>
          <a:p>
            <a:r>
              <a:rPr lang="sr-Latn-RS" dirty="0" smtClean="0"/>
              <a:t>top_critic</a:t>
            </a:r>
            <a:r>
              <a:rPr lang="sr-Latn-RS" dirty="0" smtClean="0"/>
              <a:t xml:space="preserve"> – da/ne (istaknuti kriticar)</a:t>
            </a:r>
          </a:p>
          <a:p>
            <a:r>
              <a:rPr lang="sr-Latn-RS" dirty="0" smtClean="0">
                <a:solidFill>
                  <a:srgbClr val="FF0000"/>
                </a:solidFill>
              </a:rPr>
              <a:t>publisher_name</a:t>
            </a:r>
            <a:r>
              <a:rPr lang="sr-Latn-RS" dirty="0" smtClean="0">
                <a:solidFill>
                  <a:srgbClr val="FF0000"/>
                </a:solidFill>
              </a:rPr>
              <a:t xml:space="preserve"> – ime publikacije</a:t>
            </a:r>
          </a:p>
          <a:p>
            <a:r>
              <a:rPr lang="sr-Latn-RS" dirty="0" smtClean="0"/>
              <a:t>review_score</a:t>
            </a:r>
            <a:r>
              <a:rPr lang="sr-Latn-RS" dirty="0" smtClean="0"/>
              <a:t xml:space="preserve"> – Fresh/Rotten/numerik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Semantika kolona – reviews.csv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5658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6000" dirty="0" smtClean="0">
                <a:latin typeface="+mj-lt"/>
                <a:ea typeface="Consolas" pitchFamily="34" charset="-122"/>
                <a:cs typeface="Times New Roman" pitchFamily="18" charset="0"/>
              </a:rPr>
              <a:t>{
  "_id": "ObjectId('a1b2...')",
  "ratingKey": "m123456",
  "movie_title": "Inception",
  "genre": "Science Fiction&amp;Action",
  "rating": "PG-13",
  "tomatoMeter": 87,
  "audienceScore": 91,
  "critic_name": "Roger Ebert",
  "top_critic": "Y",
  "publisher_name": "Chicago Sun-Times",
  "review_score": "Fresh",
  "review_content": "A visually stunning masterpiece...",
  "review_date": "2010-07-16"
}</a:t>
            </a:r>
            <a:endParaRPr lang="en-US" sz="6000" dirty="0" smtClean="0">
              <a:latin typeface="+mj-lt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5150"/>
            <a:ext cx="8229600" cy="97504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F2044"/>
                </a:solidFill>
                <a:ea typeface="Calibri" pitchFamily="34" charset="-122"/>
                <a:cs typeface="Calibri" pitchFamily="34" charset="-120"/>
              </a:rPr>
              <a:t xml:space="preserve">Primer </a:t>
            </a:r>
            <a:r>
              <a:rPr lang="en-US" b="1" dirty="0" err="1" smtClean="0">
                <a:solidFill>
                  <a:srgbClr val="0F2044"/>
                </a:solidFill>
                <a:ea typeface="Calibri" pitchFamily="34" charset="-122"/>
                <a:cs typeface="Calibri" pitchFamily="34" charset="-120"/>
              </a:rPr>
              <a:t>dokumenta</a:t>
            </a:r>
            <a:r>
              <a:rPr lang="en-US" b="1" dirty="0" smtClean="0">
                <a:solidFill>
                  <a:srgbClr val="0F2044"/>
                </a:solidFill>
                <a:ea typeface="Calibri" pitchFamily="34" charset="-122"/>
                <a:cs typeface="Calibri" pitchFamily="34" charset="-120"/>
              </a:rPr>
              <a:t xml:space="preserve"> u </a:t>
            </a:r>
            <a:r>
              <a:rPr lang="en-US" b="1" dirty="0" err="1" smtClean="0">
                <a:solidFill>
                  <a:srgbClr val="0F2044"/>
                </a:solidFill>
                <a:ea typeface="Calibri" pitchFamily="34" charset="-122"/>
                <a:cs typeface="Calibri" pitchFamily="34" charset="-120"/>
              </a:rPr>
              <a:t>MongoDB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100" dirty="0" err="1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Prostiranje</a:t>
            </a:r>
            <a:r>
              <a:rPr lang="en-US" sz="3100" dirty="0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3100" dirty="0" err="1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jednog</a:t>
            </a:r>
            <a:r>
              <a:rPr lang="en-US" sz="3100" dirty="0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3100" dirty="0" err="1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zapisa</a:t>
            </a:r>
            <a:r>
              <a:rPr lang="en-US" sz="3100" dirty="0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3100" dirty="0" err="1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kroz</a:t>
            </a:r>
            <a:r>
              <a:rPr lang="en-US" sz="3100" dirty="0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3100" dirty="0" err="1" smtClean="0">
                <a:solidFill>
                  <a:srgbClr val="64748B"/>
                </a:solidFill>
                <a:ea typeface="Calibri" pitchFamily="34" charset="-122"/>
                <a:cs typeface="Calibri" pitchFamily="34" charset="-120"/>
              </a:rPr>
              <a:t>kolekciju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sr-Latn-RS" dirty="0" smtClean="0"/>
              <a:t xml:space="preserve">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dirty="0"/>
              <a:t>{</a:t>
            </a:r>
          </a:p>
          <a:p>
            <a:pPr>
              <a:buNone/>
            </a:pPr>
            <a:r>
              <a:rPr lang="sr-Latn-RS" dirty="0" smtClean="0"/>
              <a:t xml:space="preserve">	</a:t>
            </a:r>
            <a:r>
              <a:rPr dirty="0" smtClean="0"/>
              <a:t xml:space="preserve"> </a:t>
            </a:r>
            <a:r>
              <a:rPr dirty="0" err="1"/>
              <a:t>ratingKey</a:t>
            </a:r>
            <a:r>
              <a:rPr dirty="0"/>
              <a:t>,</a:t>
            </a:r>
          </a:p>
          <a:p>
            <a:pPr>
              <a:buNone/>
            </a:pPr>
            <a:r>
              <a:rPr lang="sr-Latn-RS" dirty="0" smtClean="0"/>
              <a:t xml:space="preserve">	</a:t>
            </a:r>
            <a:r>
              <a:rPr dirty="0" smtClean="0"/>
              <a:t xml:space="preserve"> </a:t>
            </a:r>
            <a:r>
              <a:rPr dirty="0" err="1"/>
              <a:t>movie_title</a:t>
            </a:r>
            <a:r>
              <a:rPr dirty="0"/>
              <a:t>,</a:t>
            </a:r>
          </a:p>
          <a:p>
            <a:pPr>
              <a:buNone/>
            </a:pPr>
            <a:r>
              <a:rPr lang="sr-Latn-RS" dirty="0" smtClean="0"/>
              <a:t xml:space="preserve">	</a:t>
            </a:r>
            <a:r>
              <a:rPr dirty="0" smtClean="0"/>
              <a:t xml:space="preserve"> </a:t>
            </a:r>
            <a:r>
              <a:rPr dirty="0" err="1"/>
              <a:t>genre</a:t>
            </a:r>
            <a:r>
              <a:rPr dirty="0"/>
              <a:t>,</a:t>
            </a:r>
          </a:p>
          <a:p>
            <a:pPr>
              <a:buNone/>
            </a:pPr>
            <a:r>
              <a:rPr lang="sr-Latn-RS" dirty="0" smtClean="0"/>
              <a:t xml:space="preserve">	</a:t>
            </a:r>
            <a:r>
              <a:rPr dirty="0" smtClean="0"/>
              <a:t xml:space="preserve"> </a:t>
            </a:r>
            <a:r>
              <a:rPr dirty="0" err="1"/>
              <a:t>tomatoMeter</a:t>
            </a:r>
            <a:r>
              <a:rPr dirty="0"/>
              <a:t>,</a:t>
            </a:r>
          </a:p>
          <a:p>
            <a:pPr>
              <a:buNone/>
            </a:pPr>
            <a:r>
              <a:rPr lang="sr-Latn-RS" dirty="0" smtClean="0"/>
              <a:t xml:space="preserve">	</a:t>
            </a:r>
            <a:r>
              <a:rPr dirty="0" smtClean="0"/>
              <a:t xml:space="preserve"> </a:t>
            </a:r>
            <a:r>
              <a:rPr dirty="0" err="1"/>
              <a:t>audienceScore</a:t>
            </a:r>
            <a:r>
              <a:rPr dirty="0"/>
              <a:t>,</a:t>
            </a:r>
          </a:p>
          <a:p>
            <a:pPr>
              <a:buNone/>
            </a:pPr>
            <a:r>
              <a:rPr lang="sr-Latn-RS" dirty="0" smtClean="0"/>
              <a:t xml:space="preserve">	</a:t>
            </a:r>
            <a:r>
              <a:rPr dirty="0" smtClean="0"/>
              <a:t xml:space="preserve"> </a:t>
            </a:r>
            <a:r>
              <a:rPr dirty="0" err="1"/>
              <a:t>critic_name</a:t>
            </a:r>
            <a:r>
              <a:rPr dirty="0"/>
              <a:t>,</a:t>
            </a:r>
          </a:p>
          <a:p>
            <a:pPr>
              <a:buNone/>
            </a:pPr>
            <a:r>
              <a:rPr lang="sr-Latn-RS" dirty="0" smtClean="0"/>
              <a:t xml:space="preserve">	</a:t>
            </a:r>
            <a:r>
              <a:rPr dirty="0" smtClean="0"/>
              <a:t xml:space="preserve"> </a:t>
            </a:r>
            <a:r>
              <a:rPr dirty="0" err="1"/>
              <a:t>review_score</a:t>
            </a:r>
            <a:r>
              <a:rPr dirty="0"/>
              <a:t>,</a:t>
            </a:r>
          </a:p>
          <a:p>
            <a:pPr>
              <a:buNone/>
            </a:pPr>
            <a:r>
              <a:rPr lang="sr-Latn-RS" dirty="0" smtClean="0"/>
              <a:t xml:space="preserve">	</a:t>
            </a:r>
            <a:r>
              <a:rPr dirty="0" smtClean="0"/>
              <a:t xml:space="preserve"> </a:t>
            </a:r>
            <a:r>
              <a:rPr dirty="0" err="1"/>
              <a:t>review_content</a:t>
            </a:r>
            <a:endParaRPr dirty="0"/>
          </a:p>
          <a:p>
            <a:pPr>
              <a:buNone/>
            </a:pPr>
            <a:r>
              <a:rPr dirty="0"/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Predlog MongoDB seme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75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64008" cy="6760464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Agregaciona pitanja – Mina Vojnovic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8778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Uloga: Menadzer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filmske produkcije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280160"/>
            <a:ext cx="457200" cy="999744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8016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32892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zanrovi filmova imaju najvisi prosecni tomatoMeter (min. 50 recenzija)?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80441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$group + $match + $sort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180441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Identifikacija najcenjenijih zanrova za investiciju u produkciju.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37744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377440"/>
            <a:ext cx="457200" cy="999744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37744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242620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se prosecni tomatoMeter menjao iz decenije u decenije (po godinama izlaska)?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90169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$project (decade) + $group + $sort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290169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Analiza kriticarske percepcije filma kroz istoriju kinematografije.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47472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474720"/>
            <a:ext cx="457200" cy="999744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47472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52348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li top_critic kriticari daju znacajno drugacije ocene od regularnih kriticara?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9897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$group by top_critic + $avg(review_score) + $count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399897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Procena uticaja top kriticara na ukupnu kriticarsku sliku filma.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457200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4572000"/>
            <a:ext cx="457200" cy="999744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57200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462076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kriticari (critic_name) imaju najvise recenzija i koja je njihova prosecna ocena?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09625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$group by critic_name + $count + $avg + $sort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509625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Identifikacija najuticajnijih kriticara i konzistentnosti njihovog ocenjivanja.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566928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5669280"/>
            <a:ext cx="457200" cy="999744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566928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" y="571804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mesec u godini belezi najveci broj objavljenih kriticarskih recenzija?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619353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$project (month from review_date) + $group + $sort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619353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Sezonska dinamika filmske kritike - kada kriticari najaktivnije pisu.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753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7536"/>
            <a:ext cx="64008" cy="6760464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Agregaciona pitanja – Marija Olic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87782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Uloga: Analiticar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podataka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280160"/>
            <a:ext cx="457200" cy="9997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8016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32892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filmski studiji produciraju filmove sa najvisim prosecnim audienceScore (min. 20 filmova)?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80441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$group by studio + $avg(audienceScore) + $match + $sort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180441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Identifikacija najuspesnijih studija po gledaocima – osnova za poslovnu strategiju.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37744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377440"/>
            <a:ext cx="457200" cy="9997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37744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242620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filmovi imaju najveci raskorak izmedju tomatoMeter i audienceScore (kontraverze)?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90169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$project (gap = tomatoMeter - audienceScore) + $sort + $limit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290169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Pronalazenje filmova gde publika i kriticari radikalno ne slazu – za marketing tim.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47472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474720"/>
            <a:ext cx="457200" cy="9997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47472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52348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li filmovi sa 'Certified Fresh' statusom imaju statisticki visi audienceScore?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9897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$match(certifiedFresh) + $group + $avg(audienceScore) + $count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399897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Ispitivanje korelacije kriticarskog i gledaocevog ukusa po prestiznijim filmovima.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457200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4572000"/>
            <a:ext cx="457200" cy="9997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457200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462076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 je distribucija review_score (Fresh/Rotten) po uzrasnoj kategoriji filma (rating)?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09625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$group by rating + $facet(Fresh/Rotten count) + $project (%)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509625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Analiza da li uzrasna kategorija utice na kriticarsku percepciju filma.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5669280"/>
            <a:ext cx="87782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5669280"/>
            <a:ext cx="457200" cy="99974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5669280"/>
            <a:ext cx="4572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" y="5718048"/>
            <a:ext cx="5943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Koji publisher_name (publikacije) imaju najveci procenat Fresh recenzija u poslednjih 10 god?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6193536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6E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Agregacija: $match(review_date &gt;= 2014) + $group by publisher + $project(freshRate) + $sort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6193536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Rangiranje kriticarskih publikacija po pozitivnosti – za PR strategiju filmskih studija.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Optimalno resenje: spajanje movies.csv i reviews.csv u jednu MongoDB kolekciju</a:t>
            </a:r>
          </a:p>
          <a:p>
            <a:r>
              <a:rPr dirty="0" smtClean="0"/>
              <a:t>Spojena kolekcija (~150-300MB) dovoljno velika i pogodna za rad</a:t>
            </a:r>
          </a:p>
          <a:p>
            <a:r>
              <a:rPr dirty="0" err="1" smtClean="0"/>
              <a:t>MongoDB je idealan za analizu heterogenih filmskih i kriticarskih podataka</a:t>
            </a:r>
          </a:p>
          <a:p>
            <a:r>
              <a:rPr dirty="0" err="1" smtClean="0"/>
              <a:t>Projekat omogucava slozene agregacije, JOIN kolekcija i analizu trendova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Zakljucak</a:t>
            </a:r>
          </a:p>
        </p:txBody>
      </p:sp>
    </p:spTree>
  </p:cSld>
  <p:clrMapOvr>
    <a:masterClrMapping/>
  </p:clrMapOvr>
</p:sld>
</file>

<file path=ppt/theme/_rels/theme1.xml.rels><?xml version="1.0" encoding="UTF-8"?>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37</TotalTime>
  <Words>791</Words>
  <Application>Microsoft Office PowerPoint</Application>
  <PresentationFormat>On-screen Show (4:3)</PresentationFormat>
  <Paragraphs>131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Concourse</vt:lpstr>
      <vt:lpstr>Analiza korisničkih recenzija Amazon proizvoda korišćenjem MongoDB baze podataka</vt:lpstr>
      <vt:lpstr>Tema projekta</vt:lpstr>
      <vt:lpstr>Opis skupa</vt:lpstr>
      <vt:lpstr>Ključno</vt:lpstr>
      <vt:lpstr>Analiza skupa podataka</vt:lpstr>
      <vt:lpstr>Zašto Electronics kategorija?</vt:lpstr>
      <vt:lpstr>Predlog obrade podataka</vt:lpstr>
      <vt:lpstr>Semantika kolona</vt:lpstr>
      <vt:lpstr>Semantika kolona</vt:lpstr>
      <vt:lpstr>Primer dokumenta u MongoDB Prostiranje jednog zapisa kroz kolekciju  </vt:lpstr>
      <vt:lpstr>Predlog MongoDB šeme</vt:lpstr>
      <vt:lpstr>Slide 12</vt:lpstr>
      <vt:lpstr>Slide 13</vt:lpstr>
      <vt:lpstr>Zaključak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korisničkih recenzija Amazon proizvoda korišćenjem MongoDB baze podataka</dc:title>
  <dc:creator>Korisnik</dc:creator>
  <dc:description>generated using python-pptx</dc:description>
  <cp:lastModifiedBy>Korisnik</cp:lastModifiedBy>
  <cp:revision>2</cp:revision>
  <dcterms:created xsi:type="dcterms:W3CDTF">2013-01-27T09:14:16Z</dcterms:created>
  <dcterms:modified xsi:type="dcterms:W3CDTF">2026-06-07T22:02:34Z</dcterms:modified>
</cp:coreProperties>
</file>